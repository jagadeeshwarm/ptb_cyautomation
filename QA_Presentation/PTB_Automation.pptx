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-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3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session: an architecture-level review of Plan-To-Build's QA and Cypress automation. Headline the scale up front — 24 spec files, 300 automated test steps, a 21-page Page Object Model on Cypress 15. Preview the flow: module landscape, automation architecture, module-by-module coverage, end-to-end workflows, coverage matrix, and the maturity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Lead with the four headline numbers, then the narrative: genuine end-to-end coverage — 300 steps mimicking real user workflows, not shallow smoke checks. The bar chart shows the depth distribution: Schedule dominates at 152 steps, then EMS/Building Models and Coordination. Emphasize the reporting story — every run yields an HTML report with embedded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landscape. Eight functional areas, each with its own spec folder, Page Objects and selector module — a one-to-one mapping between product modules and test architecture. Note the dual entry point for Project Creation (manual and import); Dashboard/Finance and Resources/Timesheet are validated within the Schedule workflows. This is the mental map for the module deep-dives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 architecture. Read the stack top-down: specs call Page Objects, Page Objects reference centralized selector maps, which drive the live application. This separation is the core strength — a UI change means updating one selector module, not dozens of tests. The right column lists cross-cutting capabilities: professional reporting, real browser events, Node-side Excel manipulation, and shadow-DOM support for the embedded PDF 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overview. This is the heart of the suite — 152 of the 300 steps live here across nine sub-areas, each its own spec. Call out the Status Engine (45 steps) validating the full lifecycle state-machine across parent/child/child-of-child hierarchies, and Planned vs Actual (30 steps) doing baseline snapshots and delta comparison. The number in each card is the automated step count for that sub-area.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workflows. The design philosophy is journey-based: testIsolation is off within a spec so Step 1 through N share state and build a realistic scenario. Walk the top ribbon as the canonical journey. The three example cards show concrete multi-step workflows already automated — schedule lifecycle, finance roll-up to dashboard, and two-user permission enforcement. This is what gives the numbers meaning: connected journeys, not isolated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matrix. The one-page answer to 'what's covered.' Each row is a module or sub-module; every one shows full functional and Cypress coverage. API/data validation appears where the workflow surfaces it — the project-number check, EMS annotation/PDF downloads, Excel exports, and PIS data. The Steps column ties back to the 300 total (Coordination shows 68 = Files 32 + ToDo flow 9 + side-panel/filter/export 9 plus finance-adjacent checks). Use this slide to field any 'is X tested?'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Cypress coverage categories. Twelve capability areas the suite exercises — the breadth story. Highlight what architects care about: genuine multi-user workflows with real second-account logins, real drag-and-drop and keyboard via cypress-real-events, data-driven validation against Excel sources, and API interception for downloads. The point: this spans UI, data, API and cross-user behaviour — not just click-through smoke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 overview. The folder structure mirrors product modules one-to-one, so a new engineer navigates by feature. Conventions are consistent: PTB_&lt;Module&gt; spec folders, &lt;Area&gt;Page.js Page Objects, &lt;area&gt;Selectors.js maps. Data handling is disciplined — fixtures for credentials, run-stamped unique names to keep list assertions unambiguous, safe Excel read/edit/restore via Node tasks. Reporting is production-grade mochawesome with charts and embedded screenshots on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Maturity assessment — strengths. Six pillars placing the suite at a solid maturity level: a disciplined Page Object Model, deep functional coverage including the full status state-machine, journey-based end-to-end design, genuine multi-user fidelity, data-driven rigor against Excel sources, and professional reporting. Together these show a framework built for maintainability and scale, not just quick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Conclusion. Land four substantive takeaways: (1) complete module coverage — all eight modules and all ten matrix rows validated; (2) real depth — the status state-machine across three levels, planned-vs-actual, finance roll-ups, and two-user permission enforcement; (3) built for maintenance via the Page Object Model and 21 selector maps; (4) a trustworthy quality signal through mochawesome reporting. Restate the headline numbers on the tiles. Invite questions — the coverage matrix and module slides are the drill-down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343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2743200" cy="2743200"/>
          </a:xfrm>
          <a:prstGeom prst="ellipse">
            <a:avLst/>
          </a:prstGeom>
          <a:solidFill>
            <a:srgbClr val="3F4650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663440"/>
            <a:ext cx="3108960" cy="3108960"/>
          </a:xfrm>
          <a:prstGeom prst="ellipse">
            <a:avLst/>
          </a:prstGeom>
          <a:solidFill>
            <a:srgbClr val="343A41"/>
          </a:solidFill>
          <a:ln/>
        </p:spPr>
      </p:sp>
      <p:pic>
        <p:nvPicPr>
          <p:cNvPr id="5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66928"/>
            <a:ext cx="2834640" cy="1399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STRATEGY  ·  TEST AUTOMATION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Plan-To-Build — QA &amp;</a:t>
            </a:r>
            <a:endParaRPr lang="en-US" sz="4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Cypress Automation Coverage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640080" y="4370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 Testing Coverage · Automation Architecture · End-to-End Workflows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1559052" cy="475488"/>
          </a:xfrm>
          <a:prstGeom prst="roundRect">
            <a:avLst>
              <a:gd name="adj" fmla="val 50000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74920"/>
            <a:ext cx="15590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Spec Files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00300" y="5074920"/>
            <a:ext cx="2135124" cy="475488"/>
          </a:xfrm>
          <a:prstGeom prst="roundRect">
            <a:avLst>
              <a:gd name="adj" fmla="val 50000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00300" y="5074920"/>
            <a:ext cx="21351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Automated Steps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36592" y="5074920"/>
            <a:ext cx="1751076" cy="475488"/>
          </a:xfrm>
          <a:prstGeom prst="roundRect">
            <a:avLst>
              <a:gd name="adj" fmla="val 50000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5074920"/>
            <a:ext cx="17510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Page Objects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88836" y="5074920"/>
            <a:ext cx="1847088" cy="475488"/>
          </a:xfrm>
          <a:prstGeom prst="roundRect">
            <a:avLst>
              <a:gd name="adj" fmla="val 50000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88836" y="507492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2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15 · POM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worked on : </a:t>
            </a:r>
            <a:br>
              <a:rPr lang="en-US" sz="1200" b="1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Jagadeeshwar </a:t>
            </a:r>
            <a:br>
              <a:rPr lang="en-US" sz="1200" b="1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Manikantesh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at a Glance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267004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66420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spec files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29000" y="1600200"/>
            <a:ext cx="267004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166420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566160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steps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55080" y="1600200"/>
            <a:ext cx="267004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166420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492240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281160" y="1600200"/>
            <a:ext cx="267004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281160" y="1664208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9418320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(POM)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3429000"/>
            <a:ext cx="5989320" cy="2880360"/>
          </a:xfrm>
          <a:prstGeom prst="roundRect">
            <a:avLst>
              <a:gd name="adj" fmla="val 2857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automation delivers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7240" y="40233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coverage across eight functional modules — from project creation through scheduling, model management, coordination and permissions.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Page Object Model with centralized selectors, keeping tests readable and resilient to UI change.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user-flow validation: 300 sequenced steps exercise create → configure → verify → clean-up cycles the way a user works.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HTML reporting with embedded screenshots and charts for every run.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720840" y="3429000"/>
            <a:ext cx="498348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494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by module (test steps)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03720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098280" y="405993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24" name="Shape 21"/>
          <p:cNvSpPr/>
          <p:nvPr/>
        </p:nvSpPr>
        <p:spPr>
          <a:xfrm>
            <a:off x="9098280" y="405993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00A4E4"/>
          </a:solidFill>
          <a:ln/>
        </p:spPr>
      </p:sp>
      <p:sp>
        <p:nvSpPr>
          <p:cNvPr id="25" name="Text 22"/>
          <p:cNvSpPr/>
          <p:nvPr/>
        </p:nvSpPr>
        <p:spPr>
          <a:xfrm>
            <a:off x="11503152" y="40142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03720" y="4389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/ Building Models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098280" y="442569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28" name="Shape 25"/>
          <p:cNvSpPr/>
          <p:nvPr/>
        </p:nvSpPr>
        <p:spPr>
          <a:xfrm>
            <a:off x="9098280" y="4425696"/>
            <a:ext cx="828374" cy="201168"/>
          </a:xfrm>
          <a:prstGeom prst="roundRect">
            <a:avLst>
              <a:gd name="adj" fmla="val 13636"/>
            </a:avLst>
          </a:prstGeom>
          <a:solidFill>
            <a:srgbClr val="0082B8"/>
          </a:solidFill>
          <a:ln/>
        </p:spPr>
      </p:sp>
      <p:sp>
        <p:nvSpPr>
          <p:cNvPr id="29" name="Text 26"/>
          <p:cNvSpPr/>
          <p:nvPr/>
        </p:nvSpPr>
        <p:spPr>
          <a:xfrm>
            <a:off x="11503152" y="43799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903720" y="4754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098280" y="479145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32" name="Shape 29"/>
          <p:cNvSpPr/>
          <p:nvPr/>
        </p:nvSpPr>
        <p:spPr>
          <a:xfrm>
            <a:off x="9098280" y="4791456"/>
            <a:ext cx="767013" cy="201168"/>
          </a:xfrm>
          <a:prstGeom prst="roundRect">
            <a:avLst>
              <a:gd name="adj" fmla="val 13636"/>
            </a:avLst>
          </a:prstGeom>
          <a:solidFill>
            <a:srgbClr val="1C93C9"/>
          </a:solidFill>
          <a:ln/>
        </p:spPr>
      </p:sp>
      <p:sp>
        <p:nvSpPr>
          <p:cNvPr id="33" name="Text 30"/>
          <p:cNvSpPr/>
          <p:nvPr/>
        </p:nvSpPr>
        <p:spPr>
          <a:xfrm>
            <a:off x="11503152" y="47457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03720" y="5120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098280" y="515721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36" name="Shape 33"/>
          <p:cNvSpPr/>
          <p:nvPr/>
        </p:nvSpPr>
        <p:spPr>
          <a:xfrm>
            <a:off x="9098280" y="5157216"/>
            <a:ext cx="398847" cy="201168"/>
          </a:xfrm>
          <a:prstGeom prst="roundRect">
            <a:avLst>
              <a:gd name="adj" fmla="val 13636"/>
            </a:avLst>
          </a:prstGeom>
          <a:solidFill>
            <a:srgbClr val="3A3F46"/>
          </a:solidFill>
          <a:ln/>
        </p:spPr>
      </p:sp>
      <p:sp>
        <p:nvSpPr>
          <p:cNvPr id="37" name="Text 34"/>
          <p:cNvSpPr/>
          <p:nvPr/>
        </p:nvSpPr>
        <p:spPr>
          <a:xfrm>
            <a:off x="11503152" y="51114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903720" y="5486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Permissions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098280" y="552297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40" name="Shape 37"/>
          <p:cNvSpPr/>
          <p:nvPr/>
        </p:nvSpPr>
        <p:spPr>
          <a:xfrm>
            <a:off x="9098280" y="5522976"/>
            <a:ext cx="153403" cy="201168"/>
          </a:xfrm>
          <a:prstGeom prst="roundRect">
            <a:avLst>
              <a:gd name="adj" fmla="val 17882"/>
            </a:avLst>
          </a:prstGeom>
          <a:solidFill>
            <a:srgbClr val="5B6873"/>
          </a:solidFill>
          <a:ln/>
        </p:spPr>
      </p:sp>
      <p:sp>
        <p:nvSpPr>
          <p:cNvPr id="41" name="Text 38"/>
          <p:cNvSpPr/>
          <p:nvPr/>
        </p:nvSpPr>
        <p:spPr>
          <a:xfrm>
            <a:off x="11503152" y="5477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903720" y="5852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Logs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098280" y="5888736"/>
            <a:ext cx="2331720" cy="201168"/>
          </a:xfrm>
          <a:prstGeom prst="roundRect">
            <a:avLst>
              <a:gd name="adj" fmla="val 13636"/>
            </a:avLst>
          </a:prstGeom>
          <a:solidFill>
            <a:srgbClr val="E4EDF3"/>
          </a:solidFill>
          <a:ln/>
        </p:spPr>
      </p:sp>
      <p:sp>
        <p:nvSpPr>
          <p:cNvPr id="44" name="Shape 41"/>
          <p:cNvSpPr/>
          <p:nvPr/>
        </p:nvSpPr>
        <p:spPr>
          <a:xfrm>
            <a:off x="9098280" y="5888736"/>
            <a:ext cx="122722" cy="201168"/>
          </a:xfrm>
          <a:prstGeom prst="roundRect">
            <a:avLst>
              <a:gd name="adj" fmla="val 22353"/>
            </a:avLst>
          </a:prstGeom>
          <a:solidFill>
            <a:srgbClr val="8A949C"/>
          </a:solidFill>
          <a:ln/>
        </p:spPr>
      </p:sp>
      <p:sp>
        <p:nvSpPr>
          <p:cNvPr id="45" name="Text 42"/>
          <p:cNvSpPr/>
          <p:nvPr/>
        </p:nvSpPr>
        <p:spPr>
          <a:xfrm>
            <a:off x="11503152" y="58430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PTB Module Landscape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suite is organized around the platform's functional modules. Each maps to a dedicated spec folder, Page Objects and a selector module.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2221992"/>
            <a:ext cx="640080" cy="64008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2376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53896" y="22402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Creation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(advanced) &amp; Import-based project setup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74136" y="196596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2221992"/>
            <a:ext cx="640080" cy="64008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93592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25112" y="22402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status engine, side panel, filters, cash flow, sharing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45352" y="196596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64808" y="2221992"/>
            <a:ext cx="640080" cy="64008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64808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96328" y="22402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EMS · Building Models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64808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System, Drawing &amp; Batch element management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116568" y="1965960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36024" y="2221992"/>
            <a:ext cx="640080" cy="640080"/>
          </a:xfrm>
          <a:prstGeom prst="ellipse">
            <a:avLst/>
          </a:prstGeom>
          <a:solidFill>
            <a:srgbClr val="1C93C9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336024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67544" y="22402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36024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Documents and ToDo workflow boards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4279392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2376" y="4535424"/>
            <a:ext cx="640080" cy="640080"/>
          </a:xfrm>
          <a:prstGeom prst="ellipse">
            <a:avLst/>
          </a:prstGeom>
          <a:solidFill>
            <a:srgbClr val="0A6E9C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22376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53896" y="45537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Logs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22376" y="53309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templates: create, send, reopen, export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374136" y="4279392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93592" y="4535424"/>
            <a:ext cx="640080" cy="640080"/>
          </a:xfrm>
          <a:prstGeom prst="ellipse">
            <a:avLst/>
          </a:prstGeom>
          <a:solidFill>
            <a:srgbClr val="5B6873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593592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325112" y="45537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&amp; Permissions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593592" y="53309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creation, document &amp; schedule access control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45352" y="4279392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64808" y="4535424"/>
            <a:ext cx="640080" cy="640080"/>
          </a:xfrm>
          <a:prstGeom prst="ellipse">
            <a:avLst/>
          </a:prstGeom>
          <a:solidFill>
            <a:srgbClr val="474E57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464808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196328" y="45537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Finance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464808" y="53309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finance cards &amp; financial detail views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9116568" y="4279392"/>
            <a:ext cx="26974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336024" y="4535424"/>
            <a:ext cx="640080" cy="640080"/>
          </a:xfrm>
          <a:prstGeom prst="ellipse">
            <a:avLst/>
          </a:prstGeom>
          <a:solidFill>
            <a:srgbClr val="717C8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336024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10067544" y="45537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Timesheet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336024" y="53309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assignment, timesheet &amp; actual-work usage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is Built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" y="1773936"/>
            <a:ext cx="530352" cy="530352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700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Specs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63040" y="20665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cypress/e2e  ·  24 spec files, 300 steps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11880" y="2496312"/>
            <a:ext cx="457200" cy="237744"/>
          </a:xfrm>
          <a:prstGeom prst="downArrow">
            <a:avLst/>
          </a:prstGeom>
          <a:solidFill>
            <a:srgbClr val="B7C3CC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" y="2715768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" y="2935224"/>
            <a:ext cx="530352" cy="530352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8952" y="29352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63040" y="28620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463040" y="32278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cypress/pages  ·  21 classes, reusable flows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11880" y="3657600"/>
            <a:ext cx="457200" cy="237744"/>
          </a:xfrm>
          <a:prstGeom prst="downArrow">
            <a:avLst/>
          </a:prstGeom>
          <a:solidFill>
            <a:srgbClr val="B7C3CC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3877056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8952" y="4096512"/>
            <a:ext cx="530352" cy="530352"/>
          </a:xfrm>
          <a:prstGeom prst="ellipse">
            <a:avLst/>
          </a:prstGeom>
          <a:solidFill>
            <a:srgbClr val="1C93C9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58952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63040" y="40233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Modules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63040" y="4389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cypress/support/selectors  ·  21 centralized maps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11880" y="4818888"/>
            <a:ext cx="457200" cy="237744"/>
          </a:xfrm>
          <a:prstGeom prst="downArrow">
            <a:avLst/>
          </a:prstGeom>
          <a:solidFill>
            <a:srgbClr val="B7C3CC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920" y="5038344"/>
            <a:ext cx="7040880" cy="960120"/>
          </a:xfrm>
          <a:prstGeom prst="roundRect">
            <a:avLst>
              <a:gd name="adj" fmla="val 8571"/>
            </a:avLst>
          </a:prstGeom>
          <a:solidFill>
            <a:srgbClr val="2B2F34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58952" y="5257800"/>
            <a:ext cx="530352" cy="530352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8952" y="5257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63040" y="51846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Under Test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463040" y="55504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staging.plantobuild.online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18120" y="1554480"/>
            <a:ext cx="3886200" cy="4443984"/>
          </a:xfrm>
          <a:prstGeom prst="roundRect">
            <a:avLst>
              <a:gd name="adj" fmla="val 2118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0467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Capabilities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046720" y="2103120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Mochawesome HTML reports — charts + embedded screenshots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cypress-real-events — true hover, drag &amp; keyboard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xlsx tasks — read / edit / restore Excel fixtures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Shadow-DOM piercing for the PDF / drawing viewer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Fixture-driven users &amp; multi-user role switching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date utilities &amp; unique run-stamped names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finance, upload &amp; tree-navigation helpers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Creation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a new project into PTB through two paths — a guided Advanced manual wizard and an Excel/PIS import flow — establishing company, schedule template, folder structure and teams.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'Advanced' project wizard (type, name, number, status, dates)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Sales &amp; Contact information screens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Folder-structure and schedule-template selection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 and final review / create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project from XLSX with Project Info Sheet (PIS)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switching (e.g. Schuco India)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manual creation flow — 15 sequenced steps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 / number generation + number-validity API check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 skip-templates create &amp; success verification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PIS matches uploaded XLSX (data-driven)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vs non-PM checklist access (read-only enforcement)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edited XLSX reflects new checklist values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delete checklist rows · project deletion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checks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— The Core Engine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extensively automated area — 13 spec files and 152 steps across nine functional sub-areas.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1847088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46120" y="19568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22376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Creation &amp; Deletion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25054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above/below/child, indent, rename, delete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279392" y="1847088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22592" y="19568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498848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Engine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98848" y="25054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· OVERDUE · DELAYED · WIP · COMPLETED · HOLD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055864" y="1847088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799064" y="19568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753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Panel Editing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75320" y="250545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duration, mode, dates, constraints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02920" y="3273552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46120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22376" y="3438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vs Actual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22376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baseline compare, delta &amp; filters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279392" y="3273552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22592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498848" y="3438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&amp; Finance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498848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invoices, collections, dashboard roll-up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055864" y="3273552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799064" y="33832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8275320" y="34381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Timesheet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275320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timesheet entry, actual-work usage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02920" y="4700016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246120" y="48097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22376" y="4864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Predecessors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22376" y="53583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/ FF / SF links with lag via side panel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4279392" y="4700016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022592" y="48097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4498848" y="4864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4498848" y="53583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WIP/Hold/Completed/Overdue/Delayed/Public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8055864" y="4700016"/>
            <a:ext cx="3657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10799064" y="48097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4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8275320" y="4864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(Sharable Link)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8275320" y="53583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vs Public, password, expiry, filtered share</a:t>
            </a:r>
            <a:endParaRPr lang="en-US" sz="1080" dirty="0"/>
          </a:p>
        </p:txBody>
      </p:sp>
      <p:sp>
        <p:nvSpPr>
          <p:cNvPr id="42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— Status Engine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task status state machine and its propagation up a task hierarchy — single task, parent→child, child-of-child, and multi-child roll-up — driven by dates, duration, %, and On-Hold.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statuses: BLANK, OVERDUE, DELAYED, WIP, COMPLETED, HOLD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duration &amp; %-complete driven transitions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 / child-of-child propagation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Multi-child roll-up (2-child &amp; 3-child) &amp; averaged %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Working-day aware 'Delayed in days' calculation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/ outdent re-parenting effects on status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 lifecycle — all six statuses (Schedule_Status)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child propagation (ScheduleStatusChild)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Child-of-child propagation (Schedule_CC_Status)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2-child &amp; 3-child roll-up + On-Hold toggle behaviour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inheritance &amp; summary-bar recalculation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Delete-child → parent status recalculation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assertions across 5 dedicated specs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3-lvl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— Planning, Finance &amp; Resources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scheduling: baseline vs actual analysis, project cash-flow with dashboard roll-up, resource assignment with timesheet-driven actuals, and predecessor dependency logic.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 snapshots with named baselines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Show-Differences compare: P.START/END/DURAT vs actual + delta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Flow: bookings, invoices, Nalco invoice &amp; collections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roll-up to project Dashboard cards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assignment via right-click context menu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entry → Resource-Usage actual work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links (FS / FF / SF) with lag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30-step Planned vs Actual incl. status/percentage filters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totals, ₹0 balance, persistence after reload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cumulative finance cards &amp; Lot-level details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Non-PM sees only assigned task (visibility rule)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actual-work reconciliation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status effects for FS/FF/SF with 4D lag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(PM ↔ non-PM) switching within a flow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 steps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9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— Sharable Link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external schedule sharing: generating public links with All vs Public task scope, password + expiry protection, resource-view options, and filtered sharing.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(All) vs Share (Public) task scoping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checkbox per task governs Public-scope visibility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settings: password, expiry date, resource view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indentation reflected in shared view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share (e.g. Delayed) carries into the link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edits reflected in the shared schedule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16-task schedule with configured statuses &amp; milestones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link → all 16 tasks visible (All scope)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link opens &amp; shows correct set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%-change reflected in the shared schedule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scope → only PUBLIC-ticked tasks visible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filter + share (All / Public) subsets verified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capture &amp; single-tab visit pattern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EMS — Building Models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building elements across four structures — Model, System, Drawing and Batch — covering hierarchical element trees, status tracking, costing, templates, documents, tickets and QR workflows.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groups, elements, status tracker, manual statuses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sub-systems, articles, tracking templates, elements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Drawing: folders, PDF upload, viewer, tags &amp; annotations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element selection, templates, QR generation &amp; print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(Cost = Qty × Cost/Unit), documents &amp; files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ToDos, tickets &amp; cross-module navigation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15 steps — group/element CRUD, status tracker, cost, ticket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12 steps — sub-system, article edit, Excel export, elements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Drawing: 11 steps — upload, render, tag, annotation history, API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16 steps — element templates, QR sidebar, print-window verify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formula assertions (USD) across Model &amp; System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&amp; PDF download API interception (@downloadAnno / @pdfDownload)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value verification via Node xlsx task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intercepts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flow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— Files &amp; Documents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management: single / multiple / folder uploads, versioning, folder-structure templates, sharing with granular scope, and rename / delete lifecycle.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multiple &amp; full-folder (nested) uploads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open / preview and version history (V1/V2)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Folder-structure template import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 creation &amp; nested upload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Only Files vs Folders &amp; Files scope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settings: title, password, expiry, download link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&amp; delete for files and folders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steps — the deepest single spec in the suite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modified file → version verification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folder upload &amp; content verification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review: password + expiration confirmation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Get-Shareable-Link → Review flow (both scopes)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PTB (internal) path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delete of all files &amp; folders (clean-up)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types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scopes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9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— ToDo Workflows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ToDo boards: card creation, drag between columns, status transitions via side panel and detail page, reassignment, and side-panel editing with attachments, comments, filters &amp; export.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ToDo with title &amp; assignee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→ Ready drag-and-drop (real events)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In Progress · On Hold · Completed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Completed column on the board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ToDo to a different user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panel: rename, comments, attachments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'Created By' filter, Excel &amp; PDF export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 Backlog→Ready via cypress-real-events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via side panel and via detail page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Reassignment reflected under assigned user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column enable + completion verify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Side-panel rename, comment add, attachment upload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Created-By filter application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 and to PDF (download verified)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drag&amp;drop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Logs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Form-template lifecycle for field operations: build a template (layout, checklist, image), issue it as a log, route to a distribution list, submit, reopen, export and delete.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template builder — layout, checklist &amp; image blocks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 workspace &amp; Logs tab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 from a chosen template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list management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→ Submit lifecycle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submitted log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&amp; log deletion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tagged form template (8-step flow)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Field Operations workspace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 picks the created template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to Distribution List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→ Submit → confirmation wait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→ Send re-enabled verification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(download success) → delete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&amp; Permissions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9783"/>
            </a:avLst>
          </a:prstGeom>
          <a:solidFill>
            <a:srgbClr val="F2F9FD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access control: create a team, add members, then set and enforce document and schedule-task permissions verified through a genuine second-user login.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creation &amp; member search / add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permission assignment per team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Schedule-task permission assignment per team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verification (admin ↔ team member)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enforcement on documents &amp; schedule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deletion &amp; full environment clean-up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05456"/>
            <a:ext cx="55321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1908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9088" y="3072384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 'MJ', add two members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folders, set document permissions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2-task schedule, set task permissions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team member → verify doc + schedule access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back as admin → delete team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folders &amp; delete schedule (clean-up)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cross-account permission enforcement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8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5742432"/>
            <a:ext cx="182880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5742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Doc+Sched  </a:t>
            </a:r>
            <a:r>
              <a:rPr lang="en-US" sz="11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Suite Mirrors Real Usage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run as sequenced 'Step 1 … N' journeys — each builds on the last, exercising the platform the way a project team actually works.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783080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10" name="Shape 7"/>
          <p:cNvSpPr/>
          <p:nvPr/>
        </p:nvSpPr>
        <p:spPr>
          <a:xfrm>
            <a:off x="1917627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72491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17627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97787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2335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87199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2335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12495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18" name="Shape 15"/>
          <p:cNvSpPr/>
          <p:nvPr/>
        </p:nvSpPr>
        <p:spPr>
          <a:xfrm>
            <a:off x="4747042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1906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47042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27202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22" name="Shape 19"/>
          <p:cNvSpPr/>
          <p:nvPr/>
        </p:nvSpPr>
        <p:spPr>
          <a:xfrm>
            <a:off x="6161750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6614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61750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441910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26" name="Shape 23"/>
          <p:cNvSpPr/>
          <p:nvPr/>
        </p:nvSpPr>
        <p:spPr>
          <a:xfrm>
            <a:off x="7576457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631321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76457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856617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30" name="Shape 27"/>
          <p:cNvSpPr/>
          <p:nvPr/>
        </p:nvSpPr>
        <p:spPr>
          <a:xfrm>
            <a:off x="8991165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046029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91165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271325" y="2574036"/>
            <a:ext cx="152835" cy="201168"/>
          </a:xfrm>
          <a:prstGeom prst="rightArrow">
            <a:avLst/>
          </a:prstGeom>
          <a:solidFill>
            <a:srgbClr val="AEB8C0"/>
          </a:solidFill>
          <a:ln/>
        </p:spPr>
      </p:sp>
      <p:sp>
        <p:nvSpPr>
          <p:cNvPr id="34" name="Shape 31"/>
          <p:cNvSpPr/>
          <p:nvPr/>
        </p:nvSpPr>
        <p:spPr>
          <a:xfrm>
            <a:off x="10405872" y="2148840"/>
            <a:ext cx="1298448" cy="1051560"/>
          </a:xfrm>
          <a:prstGeom prst="roundRect">
            <a:avLst>
              <a:gd name="adj" fmla="val 7826"/>
            </a:avLst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0460736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405872" y="2404872"/>
            <a:ext cx="129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02920" y="379476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40664" y="4023360"/>
            <a:ext cx="457200" cy="45720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4066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37160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Lifecycle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758952" y="46177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schedule → add tasks → drive dates/%/hold → verify all six statuses across the hierarchy → delete.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279392" y="379476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17136" y="4023360"/>
            <a:ext cx="457200" cy="45720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51713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148072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→ Dashboard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4535424" y="46177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lots → add bookings/invoices/collections → mark primary → verify cumulative finance cards on the Dashboard.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055864" y="379476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293608" y="4023360"/>
            <a:ext cx="457200" cy="45720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829360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924544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 (2 users)</a:t>
            </a:r>
            <a:endParaRPr lang="en-US" sz="1450" dirty="0"/>
          </a:p>
        </p:txBody>
      </p:sp>
      <p:sp>
        <p:nvSpPr>
          <p:cNvPr id="51" name="Text 48"/>
          <p:cNvSpPr/>
          <p:nvPr/>
        </p:nvSpPr>
        <p:spPr>
          <a:xfrm>
            <a:off x="8311896" y="46177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doc &amp; schedule permissions → team member logs in → access enforced → admin cleans up.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Module-by-Module Automation Coverage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44256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 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Data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+ Import, PIS, checklist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flow · roles · re-upload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Number-valid API · XLSX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—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indent, rename,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menu + side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UI-state assertions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—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6-status engine, hierarchy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Parent/child/CC propagation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Working-day date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—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vs Actual, deltas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&amp; compare +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delta assertions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—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flow, dashboard roll-up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Bookings/invoices/collections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Totals, balance,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—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All/Public, password, expiry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open &amp; scope 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Shared-view assertions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 —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Model/System/Drawing/Batch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Trees, status, cost, 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API intercepts · XLSX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Files/versions + ToDo 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Upload, share, drag,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→ log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Send/reopen/export/delete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export 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&amp;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+ schedule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&amp; enforce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2-user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module or sub-module. All ten carry full functional and Cypress coverage; API/data validation is applied where the workflow exposes an interceptable call or an Excel/PIS artifact.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Automation Actually Exercises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" y="1600200"/>
            <a:ext cx="502920" cy="50292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2376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44168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2084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rename, delete across projects, schedules, tasks, elements, files, ToDos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4279392" y="1481328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627632"/>
            <a:ext cx="502920" cy="50292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98848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&amp; Table Validation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498848" y="2084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views, gantt columns, side panels, status badges, summary bars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55864" y="1481328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84464" y="1602357"/>
            <a:ext cx="502920" cy="50292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75320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97112" y="1645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&amp; Workspaces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75320" y="20848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switch, workspace select, cross-module ticket navigation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502920" y="2734056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22376" y="2861814"/>
            <a:ext cx="502920" cy="502920"/>
          </a:xfrm>
          <a:prstGeom prst="ellipse">
            <a:avLst/>
          </a:prstGeom>
          <a:solidFill>
            <a:srgbClr val="5B6873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2376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44168" y="28986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· Filter · Sort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22376" y="33375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search, smart filters, created-by filters, status filters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4279392" y="2734056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98848" y="2880360"/>
            <a:ext cx="502920" cy="502920"/>
          </a:xfrm>
          <a:prstGeom prst="ellipse">
            <a:avLst/>
          </a:prstGeom>
          <a:solidFill>
            <a:srgbClr val="1C93C9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498848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28986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Upload &amp; Download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498848" y="33375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Single/multi/folder uploads, versioning, PDF &amp; Excel export verify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8055864" y="2734056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75320" y="2852928"/>
            <a:ext cx="502920" cy="502920"/>
          </a:xfrm>
          <a:prstGeom prst="ellipse">
            <a:avLst/>
          </a:prstGeom>
          <a:solidFill>
            <a:srgbClr val="474E57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27532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897112" y="28986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 &amp; Toast Validation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275320" y="33375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Confirmations, release/notification modals, success waits</a:t>
            </a:r>
            <a:endParaRPr lang="en-US" sz="1060" dirty="0"/>
          </a:p>
        </p:txBody>
      </p:sp>
      <p:sp>
        <p:nvSpPr>
          <p:cNvPr id="35" name="Shape 32"/>
          <p:cNvSpPr/>
          <p:nvPr/>
        </p:nvSpPr>
        <p:spPr>
          <a:xfrm>
            <a:off x="502920" y="3986784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22376" y="4103499"/>
            <a:ext cx="502920" cy="502920"/>
          </a:xfrm>
          <a:prstGeom prst="ellipse">
            <a:avLst/>
          </a:prstGeom>
          <a:solidFill>
            <a:srgbClr val="0A6E9C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22376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344168" y="41513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&amp; Date Handling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722376" y="45902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Wizards, constraints, dynamic dates, duration &amp; % inputs</a:t>
            </a:r>
            <a:endParaRPr lang="en-US" sz="1060" dirty="0"/>
          </a:p>
        </p:txBody>
      </p:sp>
      <p:sp>
        <p:nvSpPr>
          <p:cNvPr id="40" name="Shape 37"/>
          <p:cNvSpPr/>
          <p:nvPr/>
        </p:nvSpPr>
        <p:spPr>
          <a:xfrm>
            <a:off x="4279392" y="3986784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498848" y="4133088"/>
            <a:ext cx="502920" cy="502920"/>
          </a:xfrm>
          <a:prstGeom prst="ellipse">
            <a:avLst/>
          </a:prstGeom>
          <a:solidFill>
            <a:srgbClr val="717C8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498848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120640" y="41513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Interception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4498848" y="45902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Annotation/PDF downloads, project-number validity checks</a:t>
            </a:r>
            <a:endParaRPr lang="en-US" sz="1060" dirty="0"/>
          </a:p>
        </p:txBody>
      </p:sp>
      <p:sp>
        <p:nvSpPr>
          <p:cNvPr id="45" name="Shape 42"/>
          <p:cNvSpPr/>
          <p:nvPr/>
        </p:nvSpPr>
        <p:spPr>
          <a:xfrm>
            <a:off x="8055864" y="3986784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84464" y="4103499"/>
            <a:ext cx="502920" cy="50292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8275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897112" y="41513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Workflows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8275320" y="45902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↔ non-PM &amp; admin ↔ member role switching mid-flow</a:t>
            </a:r>
            <a:endParaRPr lang="en-US" sz="1060" dirty="0"/>
          </a:p>
        </p:txBody>
      </p:sp>
      <p:sp>
        <p:nvSpPr>
          <p:cNvPr id="50" name="Shape 47"/>
          <p:cNvSpPr/>
          <p:nvPr/>
        </p:nvSpPr>
        <p:spPr>
          <a:xfrm>
            <a:off x="502920" y="5239512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722376" y="5374429"/>
            <a:ext cx="502920" cy="50292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722376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344168" y="5404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Events</a:t>
            </a:r>
            <a:endParaRPr lang="en-US" sz="1350" dirty="0"/>
          </a:p>
        </p:txBody>
      </p:sp>
      <p:sp>
        <p:nvSpPr>
          <p:cNvPr id="54" name="Text 51"/>
          <p:cNvSpPr/>
          <p:nvPr/>
        </p:nvSpPr>
        <p:spPr>
          <a:xfrm>
            <a:off x="722376" y="584301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drag-and-drop, hover, keyboard via cypress-real-events</a:t>
            </a:r>
            <a:endParaRPr lang="en-US" sz="1060" dirty="0"/>
          </a:p>
        </p:txBody>
      </p:sp>
      <p:sp>
        <p:nvSpPr>
          <p:cNvPr id="55" name="Shape 52"/>
          <p:cNvSpPr/>
          <p:nvPr/>
        </p:nvSpPr>
        <p:spPr>
          <a:xfrm>
            <a:off x="4279392" y="5239512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507992" y="5351052"/>
            <a:ext cx="502920" cy="50292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4498848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5120640" y="5404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Checks</a:t>
            </a:r>
            <a:endParaRPr lang="en-US" sz="1350" dirty="0"/>
          </a:p>
        </p:txBody>
      </p:sp>
      <p:sp>
        <p:nvSpPr>
          <p:cNvPr id="59" name="Text 56"/>
          <p:cNvSpPr/>
          <p:nvPr/>
        </p:nvSpPr>
        <p:spPr>
          <a:xfrm>
            <a:off x="4498848" y="584301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read/edit/restore, PIS render vs source comparison</a:t>
            </a:r>
            <a:endParaRPr lang="en-US" sz="1060" dirty="0"/>
          </a:p>
        </p:txBody>
      </p:sp>
      <p:sp>
        <p:nvSpPr>
          <p:cNvPr id="60" name="Shape 57"/>
          <p:cNvSpPr/>
          <p:nvPr/>
        </p:nvSpPr>
        <p:spPr>
          <a:xfrm>
            <a:off x="8055864" y="5239512"/>
            <a:ext cx="3657600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75320" y="5374429"/>
            <a:ext cx="502920" cy="502920"/>
          </a:xfrm>
          <a:prstGeom prst="ellipse">
            <a:avLst/>
          </a:prstGeom>
          <a:solidFill>
            <a:srgbClr val="5B6873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827532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b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8897112" y="5404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Journeys</a:t>
            </a:r>
            <a:endParaRPr lang="en-US" sz="1350" dirty="0"/>
          </a:p>
        </p:txBody>
      </p:sp>
      <p:sp>
        <p:nvSpPr>
          <p:cNvPr id="64" name="Text 61"/>
          <p:cNvSpPr/>
          <p:nvPr/>
        </p:nvSpPr>
        <p:spPr>
          <a:xfrm>
            <a:off x="8275320" y="584301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Step 1…N flows with build-up &amp; clean-up</a:t>
            </a:r>
            <a:endParaRPr lang="en-US" sz="1060" dirty="0"/>
          </a:p>
        </p:txBody>
      </p:sp>
      <p:sp>
        <p:nvSpPr>
          <p:cNvPr id="65" name="Text 6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Organization, Conventions &amp; Reporting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81328"/>
            <a:ext cx="5074920" cy="4572000"/>
          </a:xfrm>
          <a:prstGeom prst="roundRect">
            <a:avLst>
              <a:gd name="adj" fmla="val 1800"/>
            </a:avLst>
          </a:prstGeom>
          <a:solidFill>
            <a:srgbClr val="2B2F34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057400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FB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e2e/            24 specs, grouped by module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PTB_ProjectCreation/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PTB_Schedule/       (9 sub-folders)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PTB_EMS/            model·system·drawing·batch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PTB_coordination/   files·todo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PTB_FieldLogs/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PTB_TeamsAndPermissions/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pages/          21 Page Objects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support/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selectors/  21 centralized maps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utils/      dates·names·xlsx parsers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4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fixtures/       users·XLSX·upload files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1481328"/>
            <a:ext cx="58978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62472" y="1755648"/>
            <a:ext cx="502920" cy="50292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62472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02552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702552" y="198424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folders prefixed PTB_&lt;Module&gt;; Page Objects as &lt;Area&gt;Page.js; selectors as &lt;area&gt;Selectors.js.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651760"/>
            <a:ext cx="58978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62472" y="2926080"/>
            <a:ext cx="502920" cy="50292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6247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02552" y="2798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702552" y="31546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for users; run-stamped unique names; Node xlsx tasks read/edit/restore Excel safely.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06440" y="3822192"/>
            <a:ext cx="58978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62472" y="4096512"/>
            <a:ext cx="502920" cy="502920"/>
          </a:xfrm>
          <a:prstGeom prst="ellipse">
            <a:avLst/>
          </a:prstGeom>
          <a:solidFill>
            <a:srgbClr val="1C93C9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6247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02552" y="3968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Components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02552" y="43251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expose flow methods; shared utilities for dates, schedule names &amp; tree navigation.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06440" y="4992624"/>
            <a:ext cx="58978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62472" y="5266944"/>
            <a:ext cx="502920" cy="50292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062472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02552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702552" y="54955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cypress-mochawesome-reporter — charts, embedded screenshots, inline assets, timestamped files.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MATURITY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Strengths</a:t>
            </a:r>
            <a:endParaRPr lang="en-US" sz="2800" dirty="0"/>
          </a:p>
        </p:txBody>
      </p:sp>
      <p:pic>
        <p:nvPicPr>
          <p:cNvPr id="4" name="Image 0" descr="mar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310896"/>
            <a:ext cx="448056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rgbClr val="00A4E4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215798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specs, Page Objects and selector maps — high readability and single-point maintenance.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938528"/>
            <a:ext cx="640080" cy="640080"/>
          </a:xfrm>
          <a:prstGeom prst="ellipse">
            <a:avLst/>
          </a:prstGeom>
          <a:solidFill>
            <a:srgbClr val="0082B8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948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Functional Coverage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69480" y="215798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steps spanning eight modules and the full schedule status state-machine across a 3-level hierarchy.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072384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3456432"/>
            <a:ext cx="640080" cy="640080"/>
          </a:xfrm>
          <a:prstGeom prst="ellipse">
            <a:avLst/>
          </a:prstGeom>
          <a:solidFill>
            <a:srgbClr val="1C93C9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00200" y="32552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Journeys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00200" y="36758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end-to-end flows with build-up and clean-up mirror genuine project-team usage.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072384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3456432"/>
            <a:ext cx="640080" cy="640080"/>
          </a:xfrm>
          <a:prstGeom prst="ellipse">
            <a:avLst/>
          </a:prstGeom>
          <a:solidFill>
            <a:srgbClr val="3A3F46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4652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69480" y="32552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Fidelity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69480" y="367588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second-account logins validate permissions and role-based visibility — not mocked.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4590288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" y="4974336"/>
            <a:ext cx="640080" cy="640080"/>
          </a:xfrm>
          <a:prstGeom prst="ellipse">
            <a:avLst/>
          </a:prstGeom>
          <a:solidFill>
            <a:srgbClr val="0A6E9C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7240" y="4974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600200" y="47731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Rigor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600200" y="51937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Excel/PIS source-of-truth comparison and Node-side xlsx manipulation.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72200" y="4590288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1E9"/>
            </a:solidFill>
            <a:prstDash val="solid"/>
          </a:ln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46520" y="4974336"/>
            <a:ext cx="640080" cy="640080"/>
          </a:xfrm>
          <a:prstGeom prst="ellipse">
            <a:avLst/>
          </a:prstGeom>
          <a:solidFill>
            <a:srgbClr val="5B6873"/>
          </a:solidFill>
          <a:ln/>
          <a:effectLst>
            <a:outerShdw blurRad="101600" dist="38100" dir="5400000" algn="bl" rotWithShape="0">
              <a:srgbClr val="A7B4BE">
                <a:alpha val="3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46520" y="4974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269480" y="47731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Reporting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69480" y="51937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Mochawesome HTML with charts &amp; embedded screenshots for fast triage.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 — QA &amp; Cypress Automation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343A41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188720"/>
            <a:ext cx="3291840" cy="3291840"/>
          </a:xfrm>
          <a:prstGeom prst="ellipse">
            <a:avLst/>
          </a:prstGeom>
          <a:solidFill>
            <a:srgbClr val="343A41"/>
          </a:solidFill>
          <a:ln/>
        </p:spPr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02920"/>
            <a:ext cx="1874520" cy="9235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960120"/>
            <a:ext cx="8778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Coverage,</a:t>
            </a:r>
            <a:endParaRPr lang="en-US" sz="3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to Scale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40080" y="2487168"/>
            <a:ext cx="2606040" cy="1060704"/>
          </a:xfrm>
          <a:prstGeom prst="roundRect">
            <a:avLst>
              <a:gd name="adj" fmla="val 7759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3145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65576" y="2487168"/>
            <a:ext cx="2606040" cy="1060704"/>
          </a:xfrm>
          <a:prstGeom prst="roundRect">
            <a:avLst>
              <a:gd name="adj" fmla="val 7759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65576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65576" y="3145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1072" y="2487168"/>
            <a:ext cx="2606040" cy="1060704"/>
          </a:xfrm>
          <a:prstGeom prst="roundRect">
            <a:avLst>
              <a:gd name="adj" fmla="val 7759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291072" y="3145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16568" y="2487168"/>
            <a:ext cx="2606040" cy="1060704"/>
          </a:xfrm>
          <a:prstGeom prst="roundRect">
            <a:avLst>
              <a:gd name="adj" fmla="val 7759"/>
            </a:avLst>
          </a:prstGeom>
          <a:solidFill>
            <a:srgbClr val="343A41"/>
          </a:solidFill>
          <a:ln w="12700">
            <a:solidFill>
              <a:srgbClr val="4A52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16568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116568" y="3145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38039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9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 coverage — </a:t>
            </a:r>
            <a:r>
              <a:rPr lang="en-US" sz="13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eight PTB modules is automated end-to-end; all ten rows of the coverage matrix are validated across functional flows and Cypress execution.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425696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9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beyond smoke tests — </a:t>
            </a:r>
            <a:r>
              <a:rPr lang="en-US" sz="13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proves the complete schedule status state-machine over a three-level hierarchy, planned-vs-actual baselines, financial roll-ups to the dashboard, and genuine two-user permission enforcement.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5047488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9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maintenance — </a:t>
            </a:r>
            <a:r>
              <a:rPr lang="en-US" sz="13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Object Model with 21 centralized selector maps absorbs UI change in one place, keeping all 300 steps stable, readable and easy to extend.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5669280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98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quality signal — </a:t>
            </a:r>
            <a:r>
              <a:rPr lang="en-US" sz="1300" dirty="0">
                <a:solidFill>
                  <a:srgbClr val="C7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a mochawesome HTML report with charts and embedded screenshots, giving the team fast, evidence-backed triage.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 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4010</Words>
  <Application>Microsoft Office PowerPoint</Application>
  <PresentationFormat>Widescreen</PresentationFormat>
  <Paragraphs>590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Manikantesh</cp:lastModifiedBy>
  <cp:revision>4</cp:revision>
  <dcterms:created xsi:type="dcterms:W3CDTF">2026-07-14T10:40:19Z</dcterms:created>
  <dcterms:modified xsi:type="dcterms:W3CDTF">2026-07-14T10:53:41Z</dcterms:modified>
</cp:coreProperties>
</file>